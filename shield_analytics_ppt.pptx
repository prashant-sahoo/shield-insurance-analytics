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C18B"/>
    <a:srgbClr val="ED1C24"/>
    <a:srgbClr val="E8D8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6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4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0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0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6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22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2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1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1065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26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29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41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7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5DB4234-FB8C-4321-888A-194E9C4DBCF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62935F5-5091-4FFB-957E-E4379633E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55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394F-A5A2-4BBA-C760-3F7BA280A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901" y="4088602"/>
            <a:ext cx="7023340" cy="164149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8CEE6-0CB2-AAC1-088A-89B3D51CF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9908" y="3269645"/>
            <a:ext cx="7023340" cy="754025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&amp; CUSTOMER GROWTH STRATEGY</a:t>
            </a:r>
          </a:p>
        </p:txBody>
      </p:sp>
      <p:pic>
        <p:nvPicPr>
          <p:cNvPr id="7" name="Picture 6" descr="Hands holding a tablet with graphs and icons&#10;&#10;AI-generated content may be incorrect.">
            <a:extLst>
              <a:ext uri="{FF2B5EF4-FFF2-40B4-BE49-F238E27FC236}">
                <a16:creationId xmlns:a16="http://schemas.microsoft.com/office/drawing/2014/main" id="{93DE49AB-9B55-98F2-1E14-07A52F186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6" y="3429000"/>
            <a:ext cx="4171949" cy="342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70219FB-8BAD-04CB-0011-B551E0D645E2}"/>
              </a:ext>
            </a:extLst>
          </p:cNvPr>
          <p:cNvSpPr txBox="1">
            <a:spLocks/>
          </p:cNvSpPr>
          <p:nvPr/>
        </p:nvSpPr>
        <p:spPr>
          <a:xfrm>
            <a:off x="7815891" y="6390938"/>
            <a:ext cx="4376109" cy="467062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 Prashant Kumar Sahoo</a:t>
            </a:r>
          </a:p>
        </p:txBody>
      </p:sp>
      <p:pic>
        <p:nvPicPr>
          <p:cNvPr id="10" name="Picture 9" descr="A group of people standing together">
            <a:extLst>
              <a:ext uri="{FF2B5EF4-FFF2-40B4-BE49-F238E27FC236}">
                <a16:creationId xmlns:a16="http://schemas.microsoft.com/office/drawing/2014/main" id="{D5C8E276-9990-DD88-456F-A066E0762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505" y="116395"/>
            <a:ext cx="3536830" cy="2272413"/>
          </a:xfrm>
          <a:prstGeom prst="rect">
            <a:avLst/>
          </a:prstGeom>
        </p:spPr>
      </p:pic>
      <p:pic>
        <p:nvPicPr>
          <p:cNvPr id="11" name="Picture 1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49BFEAB-BD87-D05E-2B58-376CD6D6F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786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7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OVERVIEW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C0468E-57ED-216E-EF9D-A0098AA2A62F}"/>
              </a:ext>
            </a:extLst>
          </p:cNvPr>
          <p:cNvSpPr/>
          <p:nvPr/>
        </p:nvSpPr>
        <p:spPr>
          <a:xfrm>
            <a:off x="879894" y="2147977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D6286F-8782-3E45-D5A2-4D915B085D9F}"/>
              </a:ext>
            </a:extLst>
          </p:cNvPr>
          <p:cNvSpPr/>
          <p:nvPr/>
        </p:nvSpPr>
        <p:spPr>
          <a:xfrm>
            <a:off x="879894" y="4215441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E8E21-7408-8512-D655-8A030A1A60EB}"/>
              </a:ext>
            </a:extLst>
          </p:cNvPr>
          <p:cNvSpPr txBox="1"/>
          <p:nvPr/>
        </p:nvSpPr>
        <p:spPr>
          <a:xfrm>
            <a:off x="1328467" y="2329132"/>
            <a:ext cx="2855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(March)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11AB6-90AD-31C4-9D64-9A8C489E2BA2}"/>
              </a:ext>
            </a:extLst>
          </p:cNvPr>
          <p:cNvSpPr txBox="1"/>
          <p:nvPr/>
        </p:nvSpPr>
        <p:spPr>
          <a:xfrm>
            <a:off x="1147312" y="2846717"/>
            <a:ext cx="20667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 263.84M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DC3534-0C88-02F4-E369-B2E235DDFB97}"/>
              </a:ext>
            </a:extLst>
          </p:cNvPr>
          <p:cNvSpPr txBox="1"/>
          <p:nvPr/>
        </p:nvSpPr>
        <p:spPr>
          <a:xfrm>
            <a:off x="3547971" y="2844225"/>
            <a:ext cx="75049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Feb</a:t>
            </a:r>
          </a:p>
        </p:txBody>
      </p:sp>
      <p:pic>
        <p:nvPicPr>
          <p:cNvPr id="16" name="Picture 15" descr="A green arrow pointing up&#10;&#10;AI-generated content may be incorrect.">
            <a:extLst>
              <a:ext uri="{FF2B5EF4-FFF2-40B4-BE49-F238E27FC236}">
                <a16:creationId xmlns:a16="http://schemas.microsoft.com/office/drawing/2014/main" id="{A9F4B63D-2D15-7538-C9EF-E52BBD20D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18" y="2881894"/>
            <a:ext cx="264905" cy="2649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52C8FA-6A7F-0740-92D2-BCBDA204E83B}"/>
              </a:ext>
            </a:extLst>
          </p:cNvPr>
          <p:cNvSpPr txBox="1"/>
          <p:nvPr/>
        </p:nvSpPr>
        <p:spPr>
          <a:xfrm>
            <a:off x="1328467" y="4395333"/>
            <a:ext cx="2855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(April)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4D952-2745-5401-B5F5-C8BDD386897F}"/>
              </a:ext>
            </a:extLst>
          </p:cNvPr>
          <p:cNvSpPr txBox="1"/>
          <p:nvPr/>
        </p:nvSpPr>
        <p:spPr>
          <a:xfrm>
            <a:off x="1147312" y="4973513"/>
            <a:ext cx="20667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 153.75M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01E26-33D0-B9F2-C263-190578181286}"/>
              </a:ext>
            </a:extLst>
          </p:cNvPr>
          <p:cNvSpPr txBox="1"/>
          <p:nvPr/>
        </p:nvSpPr>
        <p:spPr>
          <a:xfrm>
            <a:off x="3547971" y="4971021"/>
            <a:ext cx="8946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ED1C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41.7%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Mar</a:t>
            </a:r>
          </a:p>
        </p:txBody>
      </p:sp>
      <p:pic>
        <p:nvPicPr>
          <p:cNvPr id="23" name="Picture 22" descr="A red arrow pointing down&#10;&#10;AI-generated content may be incorrect.">
            <a:extLst>
              <a:ext uri="{FF2B5EF4-FFF2-40B4-BE49-F238E27FC236}">
                <a16:creationId xmlns:a16="http://schemas.microsoft.com/office/drawing/2014/main" id="{71A47077-BCB8-34E1-11B5-0C3735E52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18" y="5016184"/>
            <a:ext cx="265176" cy="265176"/>
          </a:xfrm>
          <a:prstGeom prst="rect">
            <a:avLst/>
          </a:prstGeom>
        </p:spPr>
      </p:pic>
      <p:pic>
        <p:nvPicPr>
          <p:cNvPr id="24" name="Picture 23" descr="A green arrow pointing up&#10;&#10;AI-generated content may be incorrect.">
            <a:extLst>
              <a:ext uri="{FF2B5EF4-FFF2-40B4-BE49-F238E27FC236}">
                <a16:creationId xmlns:a16="http://schemas.microsoft.com/office/drawing/2014/main" id="{7E304409-5849-C68A-9B2B-06ADCF5C1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68" y="1745255"/>
            <a:ext cx="532563" cy="532563"/>
          </a:xfrm>
          <a:prstGeom prst="rect">
            <a:avLst/>
          </a:prstGeom>
        </p:spPr>
      </p:pic>
      <p:pic>
        <p:nvPicPr>
          <p:cNvPr id="25" name="Picture 24" descr="A red arrow pointing down&#10;&#10;AI-generated content may be incorrect.">
            <a:extLst>
              <a:ext uri="{FF2B5EF4-FFF2-40B4-BE49-F238E27FC236}">
                <a16:creationId xmlns:a16="http://schemas.microsoft.com/office/drawing/2014/main" id="{FB35894E-99D8-249B-9C44-27BBE1DDE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68" y="2655895"/>
            <a:ext cx="530352" cy="530352"/>
          </a:xfrm>
          <a:prstGeom prst="rect">
            <a:avLst/>
          </a:prstGeom>
        </p:spPr>
      </p:pic>
      <p:pic>
        <p:nvPicPr>
          <p:cNvPr id="27" name="Picture 26" descr="A group of people with different colored hair&#10;&#10;AI-generated content may be incorrect.">
            <a:extLst>
              <a:ext uri="{FF2B5EF4-FFF2-40B4-BE49-F238E27FC236}">
                <a16:creationId xmlns:a16="http://schemas.microsoft.com/office/drawing/2014/main" id="{5F4E37FB-AD86-BBA5-5377-C3BD98673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68" y="3486683"/>
            <a:ext cx="530352" cy="53035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AA225D-C193-86D0-0877-778F5B60AEE2}"/>
              </a:ext>
            </a:extLst>
          </p:cNvPr>
          <p:cNvSpPr txBox="1"/>
          <p:nvPr/>
        </p:nvSpPr>
        <p:spPr>
          <a:xfrm>
            <a:off x="6659593" y="1673526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peaked in March 2023 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263.84M, a massive </a:t>
            </a:r>
            <a:r>
              <a:rPr lang="en-US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⬆️ </a:t>
            </a:r>
            <a:r>
              <a:rPr lang="en-US" b="1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Feb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79B35-D876-A890-9E88-F61B47455E43}"/>
              </a:ext>
            </a:extLst>
          </p:cNvPr>
          <p:cNvSpPr txBox="1"/>
          <p:nvPr/>
        </p:nvSpPr>
        <p:spPr>
          <a:xfrm>
            <a:off x="6659593" y="2537042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 Seasonal dip in April 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153.75M, a </a:t>
            </a:r>
            <a:r>
              <a:rPr lang="en-US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⬇️ </a:t>
            </a:r>
            <a:r>
              <a:rPr lang="en-US" b="1" dirty="0">
                <a:solidFill>
                  <a:srgbClr val="ED1C2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41.7%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F7227-25BA-E052-95C3-CB0FECDE3964}"/>
              </a:ext>
            </a:extLst>
          </p:cNvPr>
          <p:cNvSpPr txBox="1"/>
          <p:nvPr/>
        </p:nvSpPr>
        <p:spPr>
          <a:xfrm>
            <a:off x="6659593" y="3428693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Growth mirrored Revenue Trends 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 acquisition strong, April acquisition low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6996911-E2EC-FE03-EF5F-0F90B3A943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468" r="384" b="468"/>
          <a:stretch/>
        </p:blipFill>
        <p:spPr>
          <a:xfrm>
            <a:off x="6577320" y="4222444"/>
            <a:ext cx="5120640" cy="24457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B6C849A-9651-62C2-AB0E-04FBD0603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50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7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 LEVEL INSIGHTS</a:t>
            </a:r>
            <a:endParaRPr lang="en-US" dirty="0"/>
          </a:p>
        </p:txBody>
      </p:sp>
      <p:pic>
        <p:nvPicPr>
          <p:cNvPr id="21" name="Picture 2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6343515-01A2-F0CF-72F3-02B387DC9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F34611-92BF-9192-B876-322B3EC7ED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1" t="4976" r="2381" b="4976"/>
          <a:stretch/>
        </p:blipFill>
        <p:spPr>
          <a:xfrm>
            <a:off x="1542675" y="1515344"/>
            <a:ext cx="914400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8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een arrow pointing up&#10;&#10;AI-generated content may be incorrect.">
            <a:extLst>
              <a:ext uri="{FF2B5EF4-FFF2-40B4-BE49-F238E27FC236}">
                <a16:creationId xmlns:a16="http://schemas.microsoft.com/office/drawing/2014/main" id="{B0ECDC8B-0A09-C498-9BF3-618EE84733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951" y="4110203"/>
            <a:ext cx="2439438" cy="24394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7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MODE ANALYSIS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35894E-99D8-249B-9C44-27BBE1DDE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2655895"/>
            <a:ext cx="530352" cy="5303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F4E37FB-AD86-BBA5-5377-C3BD98673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3486683"/>
            <a:ext cx="530352" cy="53035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AA225D-C193-86D0-0877-778F5B60AEE2}"/>
              </a:ext>
            </a:extLst>
          </p:cNvPr>
          <p:cNvSpPr txBox="1"/>
          <p:nvPr/>
        </p:nvSpPr>
        <p:spPr>
          <a:xfrm>
            <a:off x="6659593" y="1673526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Offline-Agent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dominates with ~</a:t>
            </a:r>
            <a:r>
              <a:rPr lang="en-GB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55%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revenue/customers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79B35-D876-A890-9E88-F61B47455E43}"/>
              </a:ext>
            </a:extLst>
          </p:cNvPr>
          <p:cNvSpPr txBox="1"/>
          <p:nvPr/>
        </p:nvSpPr>
        <p:spPr>
          <a:xfrm>
            <a:off x="6659593" y="2588798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Online-App &amp; Online-Website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 contribute ~</a:t>
            </a:r>
            <a:r>
              <a:rPr lang="en-GB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29%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rising digital adoption.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F7227-25BA-E052-95C3-CB0FECDE3964}"/>
              </a:ext>
            </a:extLst>
          </p:cNvPr>
          <p:cNvSpPr txBox="1"/>
          <p:nvPr/>
        </p:nvSpPr>
        <p:spPr>
          <a:xfrm>
            <a:off x="6659593" y="3583967"/>
            <a:ext cx="516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Offline-Direct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remains steady but less scalable.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24D12-19E5-6C04-2791-51FA692BA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4" y="2078987"/>
            <a:ext cx="4068792" cy="32122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FC789861-A515-DBE7-1328-D269CCE19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968" y="1731515"/>
            <a:ext cx="530352" cy="530352"/>
          </a:xfrm>
          <a:prstGeom prst="rect">
            <a:avLst/>
          </a:prstGeom>
        </p:spPr>
      </p:pic>
      <p:pic>
        <p:nvPicPr>
          <p:cNvPr id="9" name="Picture 8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E80FA254-F48B-2FBE-782F-50FC993E15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237" y="4479535"/>
            <a:ext cx="1289814" cy="12898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2389A3-2A2C-E097-4837-372E66E50BFC}"/>
              </a:ext>
            </a:extLst>
          </p:cNvPr>
          <p:cNvSpPr txBox="1"/>
          <p:nvPr/>
        </p:nvSpPr>
        <p:spPr>
          <a:xfrm>
            <a:off x="7096665" y="4861308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channels growing consistently, especially among younger demographics.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6343515-01A2-F0CF-72F3-02B387DC91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208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7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GROUP ANALYSIS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35894E-99D8-249B-9C44-27BBE1DDE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3009577"/>
            <a:ext cx="530352" cy="5303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F4E37FB-AD86-BBA5-5377-C3BD98673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3840365"/>
            <a:ext cx="530352" cy="53035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AA225D-C193-86D0-0877-778F5B60AEE2}"/>
              </a:ext>
            </a:extLst>
          </p:cNvPr>
          <p:cNvSpPr txBox="1"/>
          <p:nvPr/>
        </p:nvSpPr>
        <p:spPr>
          <a:xfrm>
            <a:off x="6659593" y="2027208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31–40 years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Dominant segment, highest revenue and customer counts.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79B35-D876-A890-9E88-F61B47455E43}"/>
              </a:ext>
            </a:extLst>
          </p:cNvPr>
          <p:cNvSpPr txBox="1"/>
          <p:nvPr/>
        </p:nvSpPr>
        <p:spPr>
          <a:xfrm>
            <a:off x="6659593" y="3071878"/>
            <a:ext cx="516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41–50 years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Strong secondary contributor.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F7227-25BA-E052-95C3-CB0FECDE3964}"/>
              </a:ext>
            </a:extLst>
          </p:cNvPr>
          <p:cNvSpPr txBox="1"/>
          <p:nvPr/>
        </p:nvSpPr>
        <p:spPr>
          <a:xfrm>
            <a:off x="6659593" y="3782376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65+ years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Surprisingly high revenue share, especially in Mumbai and Delhi NCR.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89861-A515-DBE7-1328-D269CCE19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2085197"/>
            <a:ext cx="530352" cy="530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F7EA60-5743-EDC0-0D89-8124BEC96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85" y="2364587"/>
            <a:ext cx="5462950" cy="2589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6DE493-8EE8-48BF-775C-699D31234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6968" y="4750661"/>
            <a:ext cx="530352" cy="5303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E25582-5F37-2B5B-E30E-EE46F164BD6E}"/>
              </a:ext>
            </a:extLst>
          </p:cNvPr>
          <p:cNvSpPr txBox="1"/>
          <p:nvPr/>
        </p:nvSpPr>
        <p:spPr>
          <a:xfrm>
            <a:off x="6659593" y="4692672"/>
            <a:ext cx="5167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18–24 years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Lowest contribution but growing steadily in online channels.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608226C-3ED9-1B76-0061-B19A89F6F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711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gnifying glass and a light bulb&#10;&#10;AI-generated content may be incorrect.">
            <a:extLst>
              <a:ext uri="{FF2B5EF4-FFF2-40B4-BE49-F238E27FC236}">
                <a16:creationId xmlns:a16="http://schemas.microsoft.com/office/drawing/2014/main" id="{58AA8CC2-8958-C421-28BA-482D624FA6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979" y="14259"/>
            <a:ext cx="2346621" cy="234662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7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  <a:endParaRPr lang="en-US" dirty="0"/>
          </a:p>
        </p:txBody>
      </p: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608226C-3ED9-1B76-0061-B19A89F6F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EEF1AD78-F7F7-3D61-61BE-CAFBFC5A8B9F}"/>
              </a:ext>
            </a:extLst>
          </p:cNvPr>
          <p:cNvSpPr txBox="1">
            <a:spLocks/>
          </p:cNvSpPr>
          <p:nvPr/>
        </p:nvSpPr>
        <p:spPr>
          <a:xfrm>
            <a:off x="0" y="118757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SUMMARY</a:t>
            </a:r>
            <a:endParaRPr lang="en-US" sz="4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C7BCEE-E070-FCA2-363D-534ABDFFE038}"/>
              </a:ext>
            </a:extLst>
          </p:cNvPr>
          <p:cNvSpPr/>
          <p:nvPr/>
        </p:nvSpPr>
        <p:spPr>
          <a:xfrm>
            <a:off x="681486" y="2503293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C85EF9-2C30-9E58-5ADC-DFD5E8BD2754}"/>
              </a:ext>
            </a:extLst>
          </p:cNvPr>
          <p:cNvSpPr/>
          <p:nvPr/>
        </p:nvSpPr>
        <p:spPr>
          <a:xfrm>
            <a:off x="7758023" y="4679859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651CAA-AC2A-1C21-705A-D121BAC05C76}"/>
              </a:ext>
            </a:extLst>
          </p:cNvPr>
          <p:cNvSpPr/>
          <p:nvPr/>
        </p:nvSpPr>
        <p:spPr>
          <a:xfrm>
            <a:off x="681486" y="4679859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6FAB66-44C4-D87B-9BEF-0EDBF2673605}"/>
              </a:ext>
            </a:extLst>
          </p:cNvPr>
          <p:cNvSpPr/>
          <p:nvPr/>
        </p:nvSpPr>
        <p:spPr>
          <a:xfrm>
            <a:off x="7758023" y="2503292"/>
            <a:ext cx="3752491" cy="1751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7608EEFC-8974-09BF-6880-A5209ABDC571}"/>
              </a:ext>
            </a:extLst>
          </p:cNvPr>
          <p:cNvSpPr/>
          <p:nvPr/>
        </p:nvSpPr>
        <p:spPr>
          <a:xfrm>
            <a:off x="4649638" y="2503292"/>
            <a:ext cx="1250830" cy="3506297"/>
          </a:xfrm>
          <a:prstGeom prst="curvedLef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531D6D4D-1AFF-3C06-9C3A-A98777FCA315}"/>
              </a:ext>
            </a:extLst>
          </p:cNvPr>
          <p:cNvSpPr/>
          <p:nvPr/>
        </p:nvSpPr>
        <p:spPr>
          <a:xfrm>
            <a:off x="6383547" y="2503292"/>
            <a:ext cx="1250830" cy="3511296"/>
          </a:xfrm>
          <a:prstGeom prst="curved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DFE9916E-EF67-4054-F009-C5B29594D17F}"/>
              </a:ext>
            </a:extLst>
          </p:cNvPr>
          <p:cNvSpPr/>
          <p:nvPr/>
        </p:nvSpPr>
        <p:spPr>
          <a:xfrm>
            <a:off x="4649638" y="2233145"/>
            <a:ext cx="1250830" cy="1467587"/>
          </a:xfrm>
          <a:prstGeom prst="curvedLef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urved Right 19">
            <a:extLst>
              <a:ext uri="{FF2B5EF4-FFF2-40B4-BE49-F238E27FC236}">
                <a16:creationId xmlns:a16="http://schemas.microsoft.com/office/drawing/2014/main" id="{E5B92371-25E7-7F20-29C1-293C816E1428}"/>
              </a:ext>
            </a:extLst>
          </p:cNvPr>
          <p:cNvSpPr/>
          <p:nvPr/>
        </p:nvSpPr>
        <p:spPr>
          <a:xfrm>
            <a:off x="6386420" y="2233145"/>
            <a:ext cx="1250830" cy="1467587"/>
          </a:xfrm>
          <a:prstGeom prst="curved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1" name="Picture 30" descr="A yellow and red graph&#10;&#10;AI-generated content may be incorrect.">
            <a:extLst>
              <a:ext uri="{FF2B5EF4-FFF2-40B4-BE49-F238E27FC236}">
                <a16:creationId xmlns:a16="http://schemas.microsoft.com/office/drawing/2014/main" id="{FD8C16EC-9B6E-92B9-775C-0B484975CC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368" y="2568431"/>
            <a:ext cx="1630726" cy="16307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00E7C3-ACB6-4B97-A7F4-28C2D1C73799}"/>
              </a:ext>
            </a:extLst>
          </p:cNvPr>
          <p:cNvSpPr txBox="1"/>
          <p:nvPr/>
        </p:nvSpPr>
        <p:spPr>
          <a:xfrm>
            <a:off x="871268" y="2777700"/>
            <a:ext cx="337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is seasonal, with peaks in March and dips in April.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 descr="A hand touching a button&#10;&#10;AI-generated content may be incorrect.">
            <a:extLst>
              <a:ext uri="{FF2B5EF4-FFF2-40B4-BE49-F238E27FC236}">
                <a16:creationId xmlns:a16="http://schemas.microsoft.com/office/drawing/2014/main" id="{2B0FFB76-FBDB-906D-6126-CE43FD291BB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368" y="4741623"/>
            <a:ext cx="1627632" cy="16276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E508B9-1F7D-72FC-6942-544597F4283A}"/>
              </a:ext>
            </a:extLst>
          </p:cNvPr>
          <p:cNvSpPr txBox="1"/>
          <p:nvPr/>
        </p:nvSpPr>
        <p:spPr>
          <a:xfrm>
            <a:off x="902899" y="4955274"/>
            <a:ext cx="337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channels are gaining traction, particularly among younger customers. 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Picture 32" descr="A yellow archway with lights with India Gate in the background&#10;&#10;AI-generated content may be incorrect.">
            <a:extLst>
              <a:ext uri="{FF2B5EF4-FFF2-40B4-BE49-F238E27FC236}">
                <a16:creationId xmlns:a16="http://schemas.microsoft.com/office/drawing/2014/main" id="{C0B1895C-139E-D98C-27C7-A421AA0B1F8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462" y="2531752"/>
            <a:ext cx="1627632" cy="1627632"/>
          </a:xfrm>
          <a:prstGeom prst="rect">
            <a:avLst/>
          </a:prstGeom>
        </p:spPr>
      </p:pic>
      <p:pic>
        <p:nvPicPr>
          <p:cNvPr id="35" name="Picture 34" descr="A yellow building with towers and a flag&#10;&#10;AI-generated content may be incorrect.">
            <a:extLst>
              <a:ext uri="{FF2B5EF4-FFF2-40B4-BE49-F238E27FC236}">
                <a16:creationId xmlns:a16="http://schemas.microsoft.com/office/drawing/2014/main" id="{52BB2B91-89EF-B83B-CAEE-EEBA464ECE9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290" y="2568431"/>
            <a:ext cx="1627632" cy="16276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4F2DEE-B4F4-C21C-573C-C3B09584CCFE}"/>
              </a:ext>
            </a:extLst>
          </p:cNvPr>
          <p:cNvSpPr txBox="1"/>
          <p:nvPr/>
        </p:nvSpPr>
        <p:spPr>
          <a:xfrm>
            <a:off x="7947804" y="2788549"/>
            <a:ext cx="337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Delhi NCR and Mumbai are the backbone of Shield Insurance’s revenue. 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EC49F58-9A28-6878-629A-AFE1856C680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22000" y="4741623"/>
            <a:ext cx="1627632" cy="162763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89DE23E-DBF7-0FC6-68E6-F4242BF2D28E}"/>
              </a:ext>
            </a:extLst>
          </p:cNvPr>
          <p:cNvSpPr txBox="1"/>
          <p:nvPr/>
        </p:nvSpPr>
        <p:spPr>
          <a:xfrm>
            <a:off x="7947804" y="4955275"/>
            <a:ext cx="337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Older demographics (65+) are unexpectedly strong contributors.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2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675" y="189781"/>
            <a:ext cx="936692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RECOMMENDATIONS</a:t>
            </a:r>
            <a:endParaRPr lang="en-US" dirty="0"/>
          </a:p>
        </p:txBody>
      </p: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608226C-3ED9-1B76-0061-B19A89F6F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AC3258D0-B062-89D1-5C4C-A7CEBD0EE867}"/>
              </a:ext>
            </a:extLst>
          </p:cNvPr>
          <p:cNvSpPr/>
          <p:nvPr/>
        </p:nvSpPr>
        <p:spPr>
          <a:xfrm>
            <a:off x="3930072" y="2263271"/>
            <a:ext cx="4331855" cy="4035855"/>
          </a:xfrm>
          <a:prstGeom prst="star5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254000">
              <a:schemeClr val="accent6">
                <a:satMod val="175000"/>
                <a:alpha val="20000"/>
              </a:schemeClr>
            </a:glow>
            <a:softEdge rad="254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153486-7AAA-6C57-F2A3-8EE656C4B136}"/>
              </a:ext>
            </a:extLst>
          </p:cNvPr>
          <p:cNvSpPr/>
          <p:nvPr/>
        </p:nvSpPr>
        <p:spPr>
          <a:xfrm>
            <a:off x="4219753" y="1302566"/>
            <a:ext cx="3752491" cy="858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416566-3CD7-D9BA-FA5E-4E7682BE4164}"/>
              </a:ext>
            </a:extLst>
          </p:cNvPr>
          <p:cNvSpPr/>
          <p:nvPr/>
        </p:nvSpPr>
        <p:spPr>
          <a:xfrm>
            <a:off x="811537" y="5888588"/>
            <a:ext cx="3752491" cy="858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203E71-5E44-FB17-B57C-F97DA02BB041}"/>
              </a:ext>
            </a:extLst>
          </p:cNvPr>
          <p:cNvSpPr/>
          <p:nvPr/>
        </p:nvSpPr>
        <p:spPr>
          <a:xfrm>
            <a:off x="107048" y="3327782"/>
            <a:ext cx="3752491" cy="858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0C3282-31D7-7C10-C103-5B50D6F31CDE}"/>
              </a:ext>
            </a:extLst>
          </p:cNvPr>
          <p:cNvSpPr/>
          <p:nvPr/>
        </p:nvSpPr>
        <p:spPr>
          <a:xfrm>
            <a:off x="8332460" y="3327782"/>
            <a:ext cx="3752491" cy="858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82629B-0C5B-793A-64A3-27C1314ED8D8}"/>
              </a:ext>
            </a:extLst>
          </p:cNvPr>
          <p:cNvSpPr/>
          <p:nvPr/>
        </p:nvSpPr>
        <p:spPr>
          <a:xfrm>
            <a:off x="7627971" y="5906942"/>
            <a:ext cx="3752491" cy="858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omputer screen with colorful icons&#10;&#10;AI-generated content may be incorrect.">
            <a:extLst>
              <a:ext uri="{FF2B5EF4-FFF2-40B4-BE49-F238E27FC236}">
                <a16:creationId xmlns:a16="http://schemas.microsoft.com/office/drawing/2014/main" id="{6B059462-E349-AD09-C0E8-DF19403388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928" y="1104785"/>
            <a:ext cx="1257048" cy="12570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8B7AF8-0F83-9B10-DCBE-5CB1566A4D6A}"/>
              </a:ext>
            </a:extLst>
          </p:cNvPr>
          <p:cNvSpPr txBox="1"/>
          <p:nvPr/>
        </p:nvSpPr>
        <p:spPr>
          <a:xfrm>
            <a:off x="4409534" y="1348746"/>
            <a:ext cx="337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Digital Channels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in app and website experiences to capture younger demographics 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Picture 39" descr="A group of people smiling&#10;&#10;AI-generated content may be incorrect.">
            <a:extLst>
              <a:ext uri="{FF2B5EF4-FFF2-40B4-BE49-F238E27FC236}">
                <a16:creationId xmlns:a16="http://schemas.microsoft.com/office/drawing/2014/main" id="{F6B813BC-CDCA-29C1-55DC-E33927C2A0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216" y="2449271"/>
            <a:ext cx="1261872" cy="126187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79DA94A-1C16-4C56-FDCD-461F07F1B510}"/>
              </a:ext>
            </a:extLst>
          </p:cNvPr>
          <p:cNvSpPr txBox="1"/>
          <p:nvPr/>
        </p:nvSpPr>
        <p:spPr>
          <a:xfrm>
            <a:off x="8332460" y="3372602"/>
            <a:ext cx="3752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High-Value Segments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marketing on 31–50 age groups, while designing specialized products for 65+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Picture 49" descr="A map with a path and a cross&#10;&#10;AI-generated content may be incorrect.">
            <a:extLst>
              <a:ext uri="{FF2B5EF4-FFF2-40B4-BE49-F238E27FC236}">
                <a16:creationId xmlns:a16="http://schemas.microsoft.com/office/drawing/2014/main" id="{28161487-756F-66E8-BFFA-4D3E67056D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279" y="5523581"/>
            <a:ext cx="1261872" cy="1261872"/>
          </a:xfrm>
          <a:prstGeom prst="rect">
            <a:avLst/>
          </a:prstGeom>
        </p:spPr>
      </p:pic>
      <p:pic>
        <p:nvPicPr>
          <p:cNvPr id="48" name="Picture 47" descr="A hand holding a megaphone&#10;&#10;AI-generated content may be incorrect.">
            <a:extLst>
              <a:ext uri="{FF2B5EF4-FFF2-40B4-BE49-F238E27FC236}">
                <a16:creationId xmlns:a16="http://schemas.microsoft.com/office/drawing/2014/main" id="{87DD4D80-0EF5-C0A9-1EDE-3B3C43E7326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785" y="5286084"/>
            <a:ext cx="665340" cy="6653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DD91135-2406-FB2D-620A-1D0DBE8A2709}"/>
              </a:ext>
            </a:extLst>
          </p:cNvPr>
          <p:cNvSpPr txBox="1"/>
          <p:nvPr/>
        </p:nvSpPr>
        <p:spPr>
          <a:xfrm>
            <a:off x="7817752" y="5960946"/>
            <a:ext cx="337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Campaigns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presence in Tier-2 cities like Indore and Chennai.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Picture 45" descr="A computer with a megaphone and various icons&#10;&#10;AI-generated content may be incorrect.">
            <a:extLst>
              <a:ext uri="{FF2B5EF4-FFF2-40B4-BE49-F238E27FC236}">
                <a16:creationId xmlns:a16="http://schemas.microsoft.com/office/drawing/2014/main" id="{6B8234AF-795C-0F1D-D639-E9BEF711472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48" y="5122279"/>
            <a:ext cx="1261872" cy="12618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CB03221-C4B3-B9C1-FA81-2FA1C9E52E7F}"/>
              </a:ext>
            </a:extLst>
          </p:cNvPr>
          <p:cNvSpPr txBox="1"/>
          <p:nvPr/>
        </p:nvSpPr>
        <p:spPr>
          <a:xfrm>
            <a:off x="1001318" y="5942356"/>
            <a:ext cx="337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 Management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promotional offers during low-revenue months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31" descr="A cartoon of a person&#10;&#10;AI-generated content may be incorrect.">
            <a:extLst>
              <a:ext uri="{FF2B5EF4-FFF2-40B4-BE49-F238E27FC236}">
                <a16:creationId xmlns:a16="http://schemas.microsoft.com/office/drawing/2014/main" id="{5146918B-CFA9-9ABA-495F-478B1C82F86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37" y="2586471"/>
            <a:ext cx="1261872" cy="12618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DE82BB-6364-21B9-CC15-C19C90D3A5D5}"/>
              </a:ext>
            </a:extLst>
          </p:cNvPr>
          <p:cNvSpPr txBox="1"/>
          <p:nvPr/>
        </p:nvSpPr>
        <p:spPr>
          <a:xfrm>
            <a:off x="264524" y="3372602"/>
            <a:ext cx="337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Enablement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training and incentivizing offline agents to sustain effectiveness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" name="Picture 28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B4D93BF3-1C33-8C43-A646-7075A6E15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730" y="3767190"/>
            <a:ext cx="1325563" cy="13255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6168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oup of colorful circles with icons&#10;&#10;AI-generated content may be incorrect.">
            <a:extLst>
              <a:ext uri="{FF2B5EF4-FFF2-40B4-BE49-F238E27FC236}">
                <a16:creationId xmlns:a16="http://schemas.microsoft.com/office/drawing/2014/main" id="{7B9DCE5B-FD94-D7AE-E897-8C16603E65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844" y="5275659"/>
            <a:ext cx="1480968" cy="1480968"/>
          </a:xfrm>
          <a:prstGeom prst="rect">
            <a:avLst/>
          </a:prstGeom>
        </p:spPr>
      </p:pic>
      <p:pic>
        <p:nvPicPr>
          <p:cNvPr id="15" name="Picture 14" descr="A computer screen with colorful icons&#10;&#10;AI-generated content may be incorrect.">
            <a:extLst>
              <a:ext uri="{FF2B5EF4-FFF2-40B4-BE49-F238E27FC236}">
                <a16:creationId xmlns:a16="http://schemas.microsoft.com/office/drawing/2014/main" id="{4D49DEA9-C6A1-1BBC-60F3-FF67DA0605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19" y="2512338"/>
            <a:ext cx="723664" cy="72366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5A77FA7-046C-080C-EAC3-1C831E32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675" y="189781"/>
            <a:ext cx="9366926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dirty="0"/>
          </a:p>
        </p:txBody>
      </p: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608226C-3ED9-1B76-0061-B19A89F6F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2" y="199621"/>
            <a:ext cx="1325563" cy="1325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5EB1E0-B0A1-2784-BF39-E6B25DC83D87}"/>
              </a:ext>
            </a:extLst>
          </p:cNvPr>
          <p:cNvSpPr txBox="1"/>
          <p:nvPr/>
        </p:nvSpPr>
        <p:spPr>
          <a:xfrm>
            <a:off x="2086134" y="2413337"/>
            <a:ext cx="93669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Shield Insurance is well‑positioned for growth (       </a:t>
            </a:r>
            <a:r>
              <a:rPr lang="en-GB" b="1" dirty="0">
                <a:solidFill>
                  <a:srgbClr val="14C1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36.3%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revenue)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 digital expansion with regional penetration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 both younger (18–24) and older (65+) demographics effectively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future through agents + digital platforms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green arrow pointing up&#10;&#10;AI-generated content may be incorrect.">
            <a:extLst>
              <a:ext uri="{FF2B5EF4-FFF2-40B4-BE49-F238E27FC236}">
                <a16:creationId xmlns:a16="http://schemas.microsoft.com/office/drawing/2014/main" id="{1FB156F6-D60C-3967-6B6B-D99C2398A9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701" y="2413337"/>
            <a:ext cx="290579" cy="290579"/>
          </a:xfrm>
          <a:prstGeom prst="rect">
            <a:avLst/>
          </a:prstGeom>
        </p:spPr>
      </p:pic>
      <p:pic>
        <p:nvPicPr>
          <p:cNvPr id="13" name="Picture 12" descr="A green arrow pointing up&#10;&#10;AI-generated content may be incorrect.">
            <a:extLst>
              <a:ext uri="{FF2B5EF4-FFF2-40B4-BE49-F238E27FC236}">
                <a16:creationId xmlns:a16="http://schemas.microsoft.com/office/drawing/2014/main" id="{734C87A1-731C-5B2F-766F-FD0904A2FC3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793" y="1311198"/>
            <a:ext cx="1815273" cy="1815273"/>
          </a:xfrm>
          <a:prstGeom prst="rect">
            <a:avLst/>
          </a:prstGeom>
        </p:spPr>
      </p:pic>
      <p:pic>
        <p:nvPicPr>
          <p:cNvPr id="16" name="Picture 15" descr="A group of people smiling&#10;&#10;AI-generated content may be incorrect.">
            <a:extLst>
              <a:ext uri="{FF2B5EF4-FFF2-40B4-BE49-F238E27FC236}">
                <a16:creationId xmlns:a16="http://schemas.microsoft.com/office/drawing/2014/main" id="{139A03E4-F19A-7404-86CE-94FB58FFB54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143" y="3616952"/>
            <a:ext cx="1261872" cy="1261872"/>
          </a:xfrm>
          <a:prstGeom prst="rect">
            <a:avLst/>
          </a:prstGeom>
        </p:spPr>
      </p:pic>
      <p:pic>
        <p:nvPicPr>
          <p:cNvPr id="18" name="Picture 17" descr="A cartoon of a person&#10;&#10;AI-generated content may be incorrect.">
            <a:extLst>
              <a:ext uri="{FF2B5EF4-FFF2-40B4-BE49-F238E27FC236}">
                <a16:creationId xmlns:a16="http://schemas.microsoft.com/office/drawing/2014/main" id="{AECF5907-FF6C-23F2-13C5-E6E726A1C41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29" y="5550344"/>
            <a:ext cx="931598" cy="931598"/>
          </a:xfrm>
          <a:prstGeom prst="rect">
            <a:avLst/>
          </a:prstGeom>
        </p:spPr>
      </p:pic>
      <p:pic>
        <p:nvPicPr>
          <p:cNvPr id="14" name="Picture 13" descr="A map with a path and a cross&#10;&#10;AI-generated content may be incorrect.">
            <a:extLst>
              <a:ext uri="{FF2B5EF4-FFF2-40B4-BE49-F238E27FC236}">
                <a16:creationId xmlns:a16="http://schemas.microsoft.com/office/drawing/2014/main" id="{D2CC39DE-5760-751F-EBB1-7A3D2FF04ED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62" y="2946814"/>
            <a:ext cx="1261872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8992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225</TotalTime>
  <Words>332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Corbel</vt:lpstr>
      <vt:lpstr>Depth</vt:lpstr>
      <vt:lpstr>STAKEHOLDER PRESENTATION</vt:lpstr>
      <vt:lpstr>EXECUTIVE OVERVIEW</vt:lpstr>
      <vt:lpstr>CITY LEVEL INSIGHTS</vt:lpstr>
      <vt:lpstr>SALES MODE ANALYSIS</vt:lpstr>
      <vt:lpstr>AGE GROUP ANALYSIS</vt:lpstr>
      <vt:lpstr>KEY FINDINGS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 Sahoo</dc:creator>
  <cp:lastModifiedBy>Prashant Kumar Sahoo</cp:lastModifiedBy>
  <cp:revision>46</cp:revision>
  <dcterms:created xsi:type="dcterms:W3CDTF">2026-03-25T09:04:57Z</dcterms:created>
  <dcterms:modified xsi:type="dcterms:W3CDTF">2026-03-26T11:42:38Z</dcterms:modified>
</cp:coreProperties>
</file>